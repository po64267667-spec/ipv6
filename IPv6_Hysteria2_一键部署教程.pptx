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164d1fac7c4bfb" /><Relationship Type="http://schemas.openxmlformats.org/officeDocument/2006/relationships/extended-properties" Target="/docProps/app.xml" Id="R1f66e7bd3f234938" /><Relationship Type="http://schemas.openxmlformats.org/officeDocument/2006/relationships/officeDocument" Target="/ppt/presentation.xml" Id="R491120efd4c449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e0cbf2502f4fee"/>
  </p:sldMasterIdLst>
  <p:notesMasterIdLst>
    <p:notesMasterId xmlns:r="http://schemas.openxmlformats.org/officeDocument/2006/relationships" r:id="R17b584e5781148b8"/>
  </p:notesMasterIdLst>
  <p:sldIdLst>
    <p:sldId xmlns:r="http://schemas.openxmlformats.org/officeDocument/2006/relationships" id="256" r:id="Rb9790124df5f4989"/>
    <p:sldId xmlns:r="http://schemas.openxmlformats.org/officeDocument/2006/relationships" id="257" r:id="R28ced4bc52ae48f4"/>
    <p:sldId xmlns:r="http://schemas.openxmlformats.org/officeDocument/2006/relationships" id="258" r:id="R3bd499a100fb48c7"/>
    <p:sldId xmlns:r="http://schemas.openxmlformats.org/officeDocument/2006/relationships" id="259" r:id="Rf053a8965baf44b6"/>
    <p:sldId xmlns:r="http://schemas.openxmlformats.org/officeDocument/2006/relationships" id="260" r:id="Ra659241bf68a44cf"/>
    <p:sldId xmlns:r="http://schemas.openxmlformats.org/officeDocument/2006/relationships" id="261" r:id="Rf3cd8114914046ad"/>
    <p:sldId xmlns:r="http://schemas.openxmlformats.org/officeDocument/2006/relationships" id="262" r:id="R43f6cbf0887443d3"/>
    <p:sldId xmlns:r="http://schemas.openxmlformats.org/officeDocument/2006/relationships" id="263" r:id="Rf7ee4ae0e1e04877"/>
    <p:sldId xmlns:r="http://schemas.openxmlformats.org/officeDocument/2006/relationships" id="264" r:id="R6b3702b8fa004cbd"/>
    <p:sldId xmlns:r="http://schemas.openxmlformats.org/officeDocument/2006/relationships" id="265" r:id="R2db3d7512fee4c9e"/>
    <p:sldId xmlns:r="http://schemas.openxmlformats.org/officeDocument/2006/relationships" id="266" r:id="R1ebac011587f4381"/>
    <p:sldId xmlns:r="http://schemas.openxmlformats.org/officeDocument/2006/relationships" id="267" r:id="R8c61378860cb40a5"/>
    <p:sldId xmlns:r="http://schemas.openxmlformats.org/officeDocument/2006/relationships" id="268" r:id="Ra8d5180be0dc413b"/>
    <p:sldId xmlns:r="http://schemas.openxmlformats.org/officeDocument/2006/relationships" id="269" r:id="R0d426c5340ab49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b2636fcc924148" /><Relationship Type="http://schemas.openxmlformats.org/officeDocument/2006/relationships/slideMaster" Target="/ppt/slideMasters/slideMaster1.xml" Id="Rb5e0cbf2502f4fee" /><Relationship Type="http://schemas.openxmlformats.org/officeDocument/2006/relationships/notesMaster" Target="/ppt/notesMasters/notesMaster1.xml" Id="R17b584e5781148b8" /><Relationship Type="http://schemas.openxmlformats.org/officeDocument/2006/relationships/presProps" Target="/ppt/presProps.xml" Id="R51dec3f9fa644e90" /><Relationship Type="http://schemas.openxmlformats.org/officeDocument/2006/relationships/tableStyles" Target="/ppt/tableStyles.xml" Id="Rdd22de292b0f42e9" /><Relationship Type="http://schemas.openxmlformats.org/officeDocument/2006/relationships/slide" Target="/ppt/slides/slide1.xml" Id="Rb9790124df5f4989" /><Relationship Type="http://schemas.openxmlformats.org/officeDocument/2006/relationships/slide" Target="/ppt/slides/slide2.xml" Id="R28ced4bc52ae48f4" /><Relationship Type="http://schemas.openxmlformats.org/officeDocument/2006/relationships/slide" Target="/ppt/slides/slide3.xml" Id="R3bd499a100fb48c7" /><Relationship Type="http://schemas.openxmlformats.org/officeDocument/2006/relationships/slide" Target="/ppt/slides/slide4.xml" Id="Rf053a8965baf44b6" /><Relationship Type="http://schemas.openxmlformats.org/officeDocument/2006/relationships/slide" Target="/ppt/slides/slide5.xml" Id="Ra659241bf68a44cf" /><Relationship Type="http://schemas.openxmlformats.org/officeDocument/2006/relationships/slide" Target="/ppt/slides/slide6.xml" Id="Rf3cd8114914046ad" /><Relationship Type="http://schemas.openxmlformats.org/officeDocument/2006/relationships/slide" Target="/ppt/slides/slide7.xml" Id="R43f6cbf0887443d3" /><Relationship Type="http://schemas.openxmlformats.org/officeDocument/2006/relationships/slide" Target="/ppt/slides/slide8.xml" Id="Rf7ee4ae0e1e04877" /><Relationship Type="http://schemas.openxmlformats.org/officeDocument/2006/relationships/slide" Target="/ppt/slides/slide9.xml" Id="R6b3702b8fa004cbd" /><Relationship Type="http://schemas.openxmlformats.org/officeDocument/2006/relationships/slide" Target="/ppt/slides/slide10.xml" Id="R2db3d7512fee4c9e" /><Relationship Type="http://schemas.openxmlformats.org/officeDocument/2006/relationships/slide" Target="/ppt/slides/slide11.xml" Id="R1ebac011587f4381" /><Relationship Type="http://schemas.openxmlformats.org/officeDocument/2006/relationships/slide" Target="/ppt/slides/slide12.xml" Id="R8c61378860cb40a5" /><Relationship Type="http://schemas.openxmlformats.org/officeDocument/2006/relationships/slide" Target="/ppt/slides/slide13.xml" Id="Ra8d5180be0dc413b" /><Relationship Type="http://schemas.openxmlformats.org/officeDocument/2006/relationships/slide" Target="/ppt/slides/slide14.xml" Id="R0d426c5340ab49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14e8b2a57049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6be99d04842d7" /><Relationship Type="http://schemas.openxmlformats.org/officeDocument/2006/relationships/notesMaster" Target="/ppt/notesMasters/notesMaster1.xml" Id="R5fc0ff7dfc734b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1a5d1450c044f3" /><Relationship Type="http://schemas.openxmlformats.org/officeDocument/2006/relationships/notesMaster" Target="/ppt/notesMasters/notesMaster1.xml" Id="R7a552e0f6dd248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bef91809814186" /><Relationship Type="http://schemas.openxmlformats.org/officeDocument/2006/relationships/notesMaster" Target="/ppt/notesMasters/notesMaster1.xml" Id="R1e7bc09f5f7c4a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75c8d419ca4c6a" /><Relationship Type="http://schemas.openxmlformats.org/officeDocument/2006/relationships/notesMaster" Target="/ppt/notesMasters/notesMaster1.xml" Id="Rfd5a545fa81c4d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f3ef8b6e124955" /><Relationship Type="http://schemas.openxmlformats.org/officeDocument/2006/relationships/notesMaster" Target="/ppt/notesMasters/notesMaster1.xml" Id="Ra35693d1bbfb4a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734ee377be4833" /><Relationship Type="http://schemas.openxmlformats.org/officeDocument/2006/relationships/notesMaster" Target="/ppt/notesMasters/notesMaster1.xml" Id="R87f3058825ad4f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621956ca4742b5" /><Relationship Type="http://schemas.openxmlformats.org/officeDocument/2006/relationships/notesMaster" Target="/ppt/notesMasters/notesMaster1.xml" Id="Ra54d34d65f7047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fa25f93b3b4697" /><Relationship Type="http://schemas.openxmlformats.org/officeDocument/2006/relationships/notesMaster" Target="/ppt/notesMasters/notesMaster1.xml" Id="R9ba8b3cab9f64f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15af6c2e52409d" /><Relationship Type="http://schemas.openxmlformats.org/officeDocument/2006/relationships/notesMaster" Target="/ppt/notesMasters/notesMaster1.xml" Id="Rb69624120d4747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26aa7795b146bb" /><Relationship Type="http://schemas.openxmlformats.org/officeDocument/2006/relationships/notesMaster" Target="/ppt/notesMasters/notesMaster1.xml" Id="Rcce9ea07864946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724b5959e54c48" /><Relationship Type="http://schemas.openxmlformats.org/officeDocument/2006/relationships/notesMaster" Target="/ppt/notesMasters/notesMaster1.xml" Id="Rf65ebd0918ca4f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aab3bce91e4ce0" /><Relationship Type="http://schemas.openxmlformats.org/officeDocument/2006/relationships/notesMaster" Target="/ppt/notesMasters/notesMaster1.xml" Id="Re407eee8285949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f9fb7b8cf94c26" /><Relationship Type="http://schemas.openxmlformats.org/officeDocument/2006/relationships/notesMaster" Target="/ppt/notesMasters/notesMaster1.xml" Id="Ra611235b36bf45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85b3be30934ff3" /><Relationship Type="http://schemas.openxmlformats.org/officeDocument/2006/relationships/notesMaster" Target="/ppt/notesMasters/notesMaster1.xml" Id="R0d65415ccc274e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本教程对应仓库 https://github.com/po64267667-spec/ipv6。在 VPS 的 root 终端执行 README 中的一键命令，先从 GitHub 下载脚本，再校验固定 SHA-256，校验成功才执行。默认只询问商家分配的公网 IPv6。固定 Hysteria 2.13.0 和 acme.sh 3.1.6，默认 UDP 443，已有服务占用时退出。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https://github.com/po64267667-spec/ipv6</a:t>
            </a:r>
          </a:p>
          <a:p xmlns:a="http://schemas.openxmlformats.org/drawingml/2006/main">
            <a:r>
              <a:t>https://github.com/HyNetworks/hysteria/releases/tag/app/v2.13.0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安装脚本与客户端网络配置是两个层面。VPS 上的脚本不能修改家庭路由器。先确认访问 IPv6 节点的网络条件，再安装。今天手机在 Cudy 开启 IPv6 穿透后报告恢复，关闭蜂窝后也验证正常；电脑当时仍需分别验证自己的地址与路由。教程要求分别验证两端，不推断所有设备都已恢复。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https://v2.hysteria.network/docs/getting-started/Client/</a:t>
            </a:r>
          </a:p>
          <a:p xmlns:a="http://schemas.openxmlformats.org/drawingml/2006/main">
            <a:r>
              <a:t>https://docs.cudy.com/user_guide/wireless_router/network/#ipv6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本脚本不停止未知服务，不接管现有 3X-UI，不自动迁移已有 Hysteria。只在新主机或端口规划完成的主机部署。amd64/arm64 使用官方预编译文件及 SHA-256 校验。NAT6 下 guest 可只有 ULA 地址，公网 IPv6 不必出现在 guest 网卡；服务监听 [::]:443。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https://v2.hysteria.network/docs/advanced/Full-Server-Config/</a:t>
            </a:r>
          </a:p>
          <a:p xmlns:a="http://schemas.openxmlformats.org/drawingml/2006/main">
            <a:r>
              <a:t>https://letsencrypt.org/2026/01/15/6day-and-ip-general-availability</a:t>
            </a:r>
          </a:p>
          <a:p xmlns:a="http://schemas.openxmlformats.org/drawingml/2006/main">
            <a:r>
              <a:t>https://github.com/acmesh-official/acme.sh/wiki/ipcert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图片来源：用户提供的 Cudy APP 菜单照片。照片显示选择菜单，选中的旧项为“中继”，教程操作是点击“穿透”。CPE 已能给直连设备提供 IPv6，Cudy 下游需要开启和传递 IPv6。不同型号、固件或无线 WISP 上联的支持差异需看实际状态，不能只凭开关判定所有设备连通。保存后分别验收手机和电脑。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https://docs.cudy.com/user_guide/wireless_router/network/#ipv6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check-ipv6.ps1 是交付包的只读 Windows 检查工具。会读取 Wi-Fi 名称、IPv6 地址和默认路由，并直连指定 IPv6 的 SSH 端口，未请求密码，未修改电脑或路由器。TCP 22 连通仅证明这条 IPv6 TCP 路径，不证明 UDP 443；最终仍需客户端访问网页。ULA+NAT6 场景也可能有可用 IPv6 出口，最终以连接测试为准。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https://v2.hysteria.network/docs/advanced/Troubleshooting/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主要入口为 https://github.com/po64267667-spec/ipv6/blob/main/README.md。复制 README 的完整命令，粘贴到 FinalShell 的 VPS root 终端，不是在 Windows PowerShell 运行。若缺少 curl 或 CA 包，先运行 apt-get update &amp;&amp; apt-get install -y curl ca-certificates。手动上传脚本到 /root 后执行 bash /root/deploy-hy2-ipv6.sh 仍是备用方法。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https://github.com/po64267667-spec/ipv6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此页使用 shell 反斜杠换行显示一条完整命令，可从 README 复制单行版本。下载遵循 HTTPS，未关闭证书验证；main 下载内容必须匹配固定 SHA-256 4d610bb81e86584ca1f27421171bb66ee58dcdd944f9b22d98581aa6478f2d51。版本更新后需同步维护哈希。只输入商家公网 IPv6；文档示例 2001:db8::10 不可用于签发。NAT6 guest 即使只有 ULA，也填写商家映射的公网地址。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https://github.com/po64267667-spec/ipv6</a:t>
            </a:r>
          </a:p>
          <a:p xmlns:a="http://schemas.openxmlformats.org/drawingml/2006/main">
            <a:r>
              <a:t>https://github.com/acmesh-official/acme.sh/wiki/ipcert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幻灯片的链接是带占位符的结构示例，不能导入。实际原始 URI 包含自动生成的认证密码、Salamander 混淆密码、[IPv6]:443 和显式 URL 编码的 sni=公网IPv6。使用正式 CA 证书，URI 不设置 insecure=1，不绑定会在续期后改变的叶证书指纹。配置与导出文件 0600，目录限制 root 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https://v2.hysteria.network/docs/developers/URI-Scheme/</a:t>
            </a:r>
          </a:p>
          <a:p xmlns:a="http://schemas.openxmlformats.org/drawingml/2006/main">
            <a:r>
              <a:t>https://v2.hysteria.network/docs/getting-started/Client/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界面名称随 v2rayN 版本可能不同。GUI 支持 Xray、sing-box 和 Hysteria2 核心，但具体版本需具有 Hysteria2 能力。优先最新兼容的官方核心。代理范围由客户端模式及路由规则决定，系统代理一般用于遵循系统代理的应用。不能用“导入成功”或一个延迟数值代替网页访问验收。本包原始 URI 显式携带公网 IPv6 作为 SNI / 证书校验名称，正式 IP 证书 SAN 与该 IPv6 匹配；原生客户端也可从服务器地址自动提取。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https://github.com/2dust/v2rayN/wiki</a:t>
            </a:r>
          </a:p>
          <a:p xmlns:a="http://schemas.openxmlformats.org/drawingml/2006/main">
            <a:r>
              <a:t>https://v2.hysteria.network/docs/getting-started/Client/</a:t>
            </a:r>
          </a:p>
          <a:p xmlns:a="http://schemas.openxmlformats.org/drawingml/2006/main">
            <a:r>
              <a:t>https://v2.hysteria.network/docs/developers/URI-Scheme/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Shadowrocket 本身支持 IPv6，但这不保证当前 Wi-Fi 提供可用 IPv6 路由。IP 证书正常验证，无需填写与证书无关的网站域名。导入后如有问题先看具体报错和公开参数，保护认证密码与混淆密码。个人设备可以使用同一个本脚本凭据，实际网络与客户端条件需要分别检查。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https://apps.apple.com/us/app/shadowrocket/id932747118</a:t>
            </a:r>
          </a:p>
          <a:p xmlns:a="http://schemas.openxmlformats.org/drawingml/2006/main">
            <a:r>
              <a:t>https://v2.hysteria.network/docs/getting-started/Client/</a:t>
            </a:r>
          </a:p>
          <a:p xmlns:a="http://schemas.openxmlformats.org/drawingml/2006/main">
            <a:r>
              <a:t>https://v2.hysteria.network/docs/advanced/Troubleshooting/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模式均以 root 在受支持 Linux systemd 上运行。check 不显示秘密、不修改配置。show 是用户主动显示凭据。重跑只处理本脚本拥有的目录与 service，保留凭据；不覆盖未管理文件或未知服务，不停止 3X-UI。完整维护命令参阅 README。测试结果及边界写在最后一页。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https://v2.hysteria.network/docs/advanced/Full-Server-Config/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 证书只能使用 shortlived profile，160 小时。脚本 --days 3 指续期周期，不是证书有效期。实际续期时间还受 acme.sh 计算和 CA ARI 建议影响，应看实际状态。独立 cron.d 文件每 6 小时运行本包 ACME --cron，不覆盖已有 /root/.acme.sh。安装固定证书路径并保存 restart hook。原生 v2.13 支持每次 TLS 握手读取文件，这里显式 restart 用于立即重读并检查服务状态，重启可能短暂中断连接。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https://letsencrypt.org/2026/01/15/6day-and-ip-general-availability</a:t>
            </a:r>
          </a:p>
          <a:p xmlns:a="http://schemas.openxmlformats.org/drawingml/2006/main">
            <a:r>
              <a:t>https://github.com/acmesh-official/acme.sh/wiki/ipcert</a:t>
            </a:r>
          </a:p>
          <a:p xmlns:a="http://schemas.openxmlformats.org/drawingml/2006/main">
            <a:r>
              <a:t>https://v2.hysteria.network/docs/advanced/Full-Server-Config/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障归因需要实际测试。Hysteria使用QUIC/UDP，不能用ICMP或TCP端口延迟一概判断。VPS脚本不能修复家庭路由器，不能保证绕过网络封锁；只实现已说明的原生部署流程。日志或节点截图需保护密码、二维码和订阅链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https://v2.hysteria.network/docs/advanced/Troubleshooting/</a:t>
            </a:r>
          </a:p>
          <a:p xmlns:a="http://schemas.openxmlformats.org/drawingml/2006/main">
            <a:r>
              <a:t>https://v2.hysteria.network/docs/advanced/Full-Server-Config/</a:t>
            </a:r>
          </a:p>
          <a:p xmlns:a="http://schemas.openxmlformats.org/drawingml/2006/main">
            <a:r>
              <a:t>https://docs.cudy.com/user_guide/wireless_router/network/#ipv6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 https://github.com/po64267667-spec/ipv6 已作为发布目标，包含部署脚本、Windows IPv6 检查、README、验证记录、SHA-256 和本教程。核对日期 2026-10-11。通过静态检查、Windows 15 项诊断测试、原生 Windows IPv6 回环代理测试；真实 Linux systemd、公网证书自动签发与续期、商家 NAT6、公网 UDP 以及新脚本生成节点的 v2rayN / Shadowrocket 验收仍需在目标环境完成。今天人工部署成功不替代新脚本的自动化验收。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https://github.com/po64267667-spec/ipv6</a:t>
            </a:r>
          </a:p>
          <a:p xmlns:a="http://schemas.openxmlformats.org/drawingml/2006/main">
            <a:r>
              <a:t>https://github.com/HyNetworks/hysteria/releases/tag/app/v2.13.0</a:t>
            </a:r>
          </a:p>
          <a:p xmlns:a="http://schemas.openxmlformats.org/drawingml/2006/main">
            <a:r>
              <a:t>https://v2.hysteria.network/docs/developers/URI-Scheme/</a:t>
            </a:r>
          </a:p>
          <a:p xmlns:a="http://schemas.openxmlformats.org/drawingml/2006/main">
            <a:r>
              <a:t>https://letsencrypt.org/2026/01/15/6day-and-ip-general-availability</a:t>
            </a:r>
          </a:p>
          <a:p xmlns:a="http://schemas.openxmlformats.org/drawingml/2006/main">
            <a:r>
              <a:t>https://github.com/acmesh-official/acme.sh/wiki/ipcert</a:t>
            </a:r>
          </a:p>
          <a:p xmlns:a="http://schemas.openxmlformats.org/drawingml/2006/main">
            <a:r>
              <a:t>https://docs.cudy.com/user_guide/wireless_router/network/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2397ae62146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01cc6523b4f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5189603fb43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0e05e27ca4b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aac9be0a64d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3392a40db4d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ABEFC5-C6D8-4F88-9D7A-E7CB56512A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11CCB6-C42B-422B-9ED7-8970B7D210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E26CD3-77B2-4197-B9A7-465930A6D2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F8E6E8-C113-4850-8833-05BB1174F9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DCC3AB-BDBF-4FC3-B134-2C3E1B9DD4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0669BD-C811-401C-BECD-9467C39A4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339E3C-762E-46DE-8175-66553F04B8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1408DE-1885-436C-BDBC-8884EC7A3D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D73726-2AC8-4495-8405-FB082D34B9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31EB4C-0517-4594-B37A-AFCE3B8453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3173ca0a6a46cf" /><Relationship Type="http://schemas.openxmlformats.org/officeDocument/2006/relationships/slideLayout" Target="/ppt/slideLayouts/slideLayout1.xml" Id="R1e8524c8ee1d48e0" /><Relationship Type="http://schemas.openxmlformats.org/officeDocument/2006/relationships/slideLayout" Target="/ppt/slideLayouts/slideLayout2.xml" Id="R1cf650dbe7d047cf" /><Relationship Type="http://schemas.openxmlformats.org/officeDocument/2006/relationships/slideLayout" Target="/ppt/slideLayouts/slideLayout3.xml" Id="R6246195dfa2246a8" /><Relationship Type="http://schemas.openxmlformats.org/officeDocument/2006/relationships/slideLayout" Target="/ppt/slideLayouts/slideLayout4.xml" Id="R2e3131910a6548f8" /><Relationship Type="http://schemas.openxmlformats.org/officeDocument/2006/relationships/slideLayout" Target="/ppt/slideLayouts/slideLayout5.xml" Id="R7328e2c8a3554579" /><Relationship Type="http://schemas.openxmlformats.org/officeDocument/2006/relationships/slideLayout" Target="/ppt/slideLayouts/slideLayout6.xml" Id="R46d2aaf2e9314e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8524c8ee1d48e0"/>
    <p:sldLayoutId xmlns:r="http://schemas.openxmlformats.org/officeDocument/2006/relationships" id="2147483650" r:id="R1cf650dbe7d047cf"/>
    <p:sldLayoutId xmlns:r="http://schemas.openxmlformats.org/officeDocument/2006/relationships" id="2147483651" r:id="R6246195dfa2246a8"/>
    <p:sldLayoutId xmlns:r="http://schemas.openxmlformats.org/officeDocument/2006/relationships" id="2147483652" r:id="R2e3131910a6548f8"/>
    <p:sldLayoutId xmlns:r="http://schemas.openxmlformats.org/officeDocument/2006/relationships" id="2147483653" r:id="R7328e2c8a3554579"/>
    <p:sldLayoutId xmlns:r="http://schemas.openxmlformats.org/officeDocument/2006/relationships" id="2147483654" r:id="R46d2aaf2e9314e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1d645b7fc461f" /><Relationship Type="http://schemas.openxmlformats.org/officeDocument/2006/relationships/notesSlide" Target="/ppt/notesSlides/notesSlide1.xml" Id="Rc169e7fbf6dc45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b98e73df341fa" /><Relationship Type="http://schemas.openxmlformats.org/officeDocument/2006/relationships/notesSlide" Target="/ppt/notesSlides/notesSlide2.xml" Id="R433bce55189a4b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36dd87dad47b3" /><Relationship Type="http://schemas.openxmlformats.org/officeDocument/2006/relationships/notesSlide" Target="/ppt/notesSlides/notesSlide3.xml" Id="R248ef04b321341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958e56d7c4b78" /><Relationship Type="http://schemas.openxmlformats.org/officeDocument/2006/relationships/image" Target="/ppt/media/image.jpeg" Id="Ra2c90e389f3a47d4" /><Relationship Type="http://schemas.openxmlformats.org/officeDocument/2006/relationships/notesSlide" Target="/ppt/notesSlides/notesSlide4.xml" Id="Rbf3cfdb979d443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c44ca24ba4426" /><Relationship Type="http://schemas.openxmlformats.org/officeDocument/2006/relationships/notesSlide" Target="/ppt/notesSlides/notesSlide5.xml" Id="Rb6e078af44ac4b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783df95ff464f" /><Relationship Type="http://schemas.openxmlformats.org/officeDocument/2006/relationships/notesSlide" Target="/ppt/notesSlides/notesSlide6.xml" Id="R69351c090b1746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1a9352c054e71" /><Relationship Type="http://schemas.openxmlformats.org/officeDocument/2006/relationships/notesSlide" Target="/ppt/notesSlides/notesSlide7.xml" Id="R92d9b30b107e47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5dfc2ef5948f9" /><Relationship Type="http://schemas.openxmlformats.org/officeDocument/2006/relationships/notesSlide" Target="/ppt/notesSlides/notesSlide8.xml" Id="R6ab64c55a7204d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ccf2b0d8eb4177" /><Relationship Type="http://schemas.openxmlformats.org/officeDocument/2006/relationships/notesSlide" Target="/ppt/notesSlides/notesSlide9.xml" Id="R7474d8f8bd7748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38e81fab244c7" /><Relationship Type="http://schemas.openxmlformats.org/officeDocument/2006/relationships/notesSlide" Target="/ppt/notesSlides/notesSlide10.xml" Id="Rca82819fcdd946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96259e6de4ecd" /><Relationship Type="http://schemas.openxmlformats.org/officeDocument/2006/relationships/notesSlide" Target="/ppt/notesSlides/notesSlide11.xml" Id="R8a23ce89a6eb4d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dda4438b7d4f38" /><Relationship Type="http://schemas.openxmlformats.org/officeDocument/2006/relationships/notesSlide" Target="/ppt/notesSlides/notesSlide12.xml" Id="Rb2b8786e77cb4a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f4e9998d1499b" /><Relationship Type="http://schemas.openxmlformats.org/officeDocument/2006/relationships/notesSlide" Target="/ppt/notesSlides/notesSlide13.xml" Id="R9656a9c324364a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cd85ee86e4496" /><Relationship Type="http://schemas.openxmlformats.org/officeDocument/2006/relationships/notesSlide" Target="/ppt/notesSlides/notesSlide14.xml" Id="R3f68403ab03b43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ysteria 2">
            <a:extLst xmlns:a="http://schemas.openxmlformats.org/drawingml/2006/main">
              <a:ext uri="{FF2B5EF4-FFF2-40B4-BE49-F238E27FC236}">
                <a16:creationId xmlns:a16="http://schemas.microsoft.com/office/drawing/2014/main" id="{33922674-B4D7-4969-A7EF-95BD49B1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Hysteria 2</a:t>
            </a:r>
          </a:p>
        </p:txBody>
      </p:sp>
      <p:sp>
        <p:nvSpPr>
          <p:cNvPr id="2" name="IPv6 一键部署">
            <a:extLst xmlns:a="http://schemas.openxmlformats.org/drawingml/2006/main">
              <a:ext uri="{FF2B5EF4-FFF2-40B4-BE49-F238E27FC236}">
                <a16:creationId xmlns:a16="http://schemas.microsoft.com/office/drawing/2014/main" id="{FEF2F9D0-2931-48CB-B267-BAAB8ECC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30D5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30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30D5C8"/>
                </a:solidFill>
                <a:latin typeface="Microsoft YaHei"/>
                <a:ea typeface="Microsoft YaHei"/>
                <a:cs typeface="Microsoft YaHei"/>
              </a:rPr>
              <a:t>IPv6 一键部署</a:t>
            </a:r>
          </a:p>
        </p:txBody>
      </p:sp>
      <p:sp>
        <p:nvSpPr>
          <p:cNvPr id="3" name="原生服务，自动证书，直接导入客户端">
            <a:extLst xmlns:a="http://schemas.openxmlformats.org/drawingml/2006/main">
              <a:ext uri="{FF2B5EF4-FFF2-40B4-BE49-F238E27FC236}">
                <a16:creationId xmlns:a16="http://schemas.microsoft.com/office/drawing/2014/main" id="{86766FB1-3AAA-44BA-AD9D-AE0ECC30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C7DCE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C7DC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C7DCE4"/>
                </a:solidFill>
                <a:latin typeface="Microsoft YaHei"/>
                <a:ea typeface="Microsoft YaHei"/>
                <a:cs typeface="Microsoft YaHei"/>
              </a:rPr>
              <a:t>原生服务，自动证书，直接导入客户端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16BE6-D7BF-4181-BDF1-05468515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1085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F"/>
          </a:solidFill>
          <a:ln xmlns:a="http://schemas.openxmlformats.org/drawingml/2006/main" w="0">
            <a:noFill/>
          </a:ln>
        </p:spPr>
      </p:sp>
      <p:sp>
        <p:nvSpPr>
          <p:cNvPr id="5" name="bash /root/deploy-hy2-ipv6.sh">
            <a:extLst xmlns:a="http://schemas.openxmlformats.org/drawingml/2006/main">
              <a:ext uri="{FF2B5EF4-FFF2-40B4-BE49-F238E27FC236}">
                <a16:creationId xmlns:a16="http://schemas.microsoft.com/office/drawing/2014/main" id="{A2695ECC-D33C-4B10-A54B-AC9EFF90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38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GitHub: github.com/po64267667-spec/ipv6</a:t>
            </a:r>
          </a:p>
        </p:txBody>
      </p:sp>
      <p:sp>
        <p:nvSpPr>
          <p:cNvPr id="6" name="上传脚本后，只需输入商家提供的公网 IPv6">
            <a:extLst xmlns:a="http://schemas.openxmlformats.org/drawingml/2006/main">
              <a:ext uri="{FF2B5EF4-FFF2-40B4-BE49-F238E27FC236}">
                <a16:creationId xmlns:a16="http://schemas.microsoft.com/office/drawing/2014/main" id="{16FEE878-87C0-4E11-B54F-C00E7228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7DCE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C7DC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DCE4"/>
                </a:solidFill>
                <a:latin typeface="Microsoft YaHei"/>
                <a:ea typeface="Microsoft YaHei"/>
                <a:cs typeface="Microsoft YaHei"/>
              </a:rPr>
              <a:t>从仓库复制一键命令，只需输入商家提供的公网 IPv6</a:t>
            </a:r>
          </a:p>
        </p:txBody>
      </p:sp>
      <p:sp>
        <p:nvSpPr>
          <p:cNvPr id="7" name="适用 Debian 12/13、Ubuntu 22.04/2">
            <a:extLst xmlns:a="http://schemas.openxmlformats.org/drawingml/2006/main">
              <a:ext uri="{FF2B5EF4-FFF2-40B4-BE49-F238E27FC236}">
                <a16:creationId xmlns:a16="http://schemas.microsoft.com/office/drawing/2014/main" id="{80C3DEEF-E680-4E4C-A58E-CBF47B40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97B3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97B3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7B3C0"/>
                </a:solidFill>
                <a:latin typeface="Microsoft YaHei"/>
                <a:ea typeface="Microsoft YaHei"/>
                <a:cs typeface="Microsoft YaHei"/>
              </a:rPr>
              <a:t>适用 Debian 12/13、Ubuntu 22.04/24.04</a:t>
            </a:r>
          </a:p>
        </p:txBody>
      </p:sp>
    </p:spTree>
    <p:extLst>
      <p:ext uri="{BB962C8B-B14F-4D97-AF65-F5344CB8AC3E}">
        <p14:creationId xmlns:p14="http://schemas.microsoft.com/office/powerpoint/2010/main" val="363625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整个操作流程">
            <a:extLst xmlns:a="http://schemas.openxmlformats.org/drawingml/2006/main">
              <a:ext uri="{FF2B5EF4-FFF2-40B4-BE49-F238E27FC236}">
                <a16:creationId xmlns:a16="http://schemas.microsoft.com/office/drawing/2014/main" id="{4D445A08-47E6-4629-BB90-46A631AA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整个操作流程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EF7A0-4B92-49F9-A8A4-08F89CE7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F91FAD7A-589E-4D47-91CF-DF18B6D5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A983C7A3-6B8F-4732-BCC2-339726FD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确认 IPv6 网络">
            <a:extLst xmlns:a="http://schemas.openxmlformats.org/drawingml/2006/main">
              <a:ext uri="{FF2B5EF4-FFF2-40B4-BE49-F238E27FC236}">
                <a16:creationId xmlns:a16="http://schemas.microsoft.com/office/drawing/2014/main" id="{CC5989AA-4DC1-45A7-A6C2-8D38A9B7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66875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确认 IPv6 网络</a:t>
            </a:r>
          </a:p>
        </p:txBody>
      </p:sp>
      <p:sp>
        <p:nvSpPr>
          <p:cNvPr id="6" name="电脑和手机分别检查，Cudy 的 IPv6 开关需要开启。">
            <a:extLst xmlns:a="http://schemas.openxmlformats.org/drawingml/2006/main">
              <a:ext uri="{FF2B5EF4-FFF2-40B4-BE49-F238E27FC236}">
                <a16:creationId xmlns:a16="http://schemas.microsoft.com/office/drawing/2014/main" id="{50959ABE-7E97-4F63-9EDD-1B15566F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526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电脑和手机分别检查，Cudy 的 IPv6 开关需要开启。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2059A431-486D-40FA-8ED4-EDFC5C98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上传脚本到 VPS">
            <a:extLst xmlns:a="http://schemas.openxmlformats.org/drawingml/2006/main">
              <a:ext uri="{FF2B5EF4-FFF2-40B4-BE49-F238E27FC236}">
                <a16:creationId xmlns:a16="http://schemas.microsoft.com/office/drawing/2014/main" id="{96197DF7-5507-45ED-B054-6093BA67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复制 GitHub 一键命令</a:t>
            </a:r>
          </a:p>
        </p:txBody>
      </p:sp>
      <p:sp>
        <p:nvSpPr>
          <p:cNvPr id="9" name="用 FinalShell 文件面板上传到 /root。">
            <a:extLst xmlns:a="http://schemas.openxmlformats.org/drawingml/2006/main">
              <a:ext uri="{FF2B5EF4-FFF2-40B4-BE49-F238E27FC236}">
                <a16:creationId xmlns:a16="http://schemas.microsoft.com/office/drawing/2014/main" id="{2FE34313-CB4F-4A3C-87A3-37CCDBB2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6707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打开仓库的 README，复制完整安装命令。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EC45D5B4-C7CD-4506-AC02-1B0DA19B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运行一条部署命令">
            <a:extLst xmlns:a="http://schemas.openxmlformats.org/drawingml/2006/main">
              <a:ext uri="{FF2B5EF4-FFF2-40B4-BE49-F238E27FC236}">
                <a16:creationId xmlns:a16="http://schemas.microsoft.com/office/drawing/2014/main" id="{9D0F806B-9BC5-44B9-B3DE-91BEF954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95725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在 VPS 终端执行</a:t>
            </a:r>
          </a:p>
        </p:txBody>
      </p:sp>
      <p:sp>
        <p:nvSpPr>
          <p:cNvPr id="12" name="输入商家分配的公网 IPv6，等待自动部署完成。">
            <a:extLst xmlns:a="http://schemas.openxmlformats.org/drawingml/2006/main">
              <a:ext uri="{FF2B5EF4-FFF2-40B4-BE49-F238E27FC236}">
                <a16:creationId xmlns:a16="http://schemas.microsoft.com/office/drawing/2014/main" id="{88CC9A93-3EF0-481D-9ACE-672CCF99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8150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输入商家分配的公网 IPv6，等待自动部署完成。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BF7D19B8-BC85-4ECA-B427-B19767A9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导入原始链接或二维码">
            <a:extLst xmlns:a="http://schemas.openxmlformats.org/drawingml/2006/main">
              <a:ext uri="{FF2B5EF4-FFF2-40B4-BE49-F238E27FC236}">
                <a16:creationId xmlns:a16="http://schemas.microsoft.com/office/drawing/2014/main" id="{5BC51B54-48A2-4BFE-99E5-1B5E9568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导入原始链接或二维码</a:t>
            </a:r>
          </a:p>
        </p:txBody>
      </p:sp>
      <p:sp>
        <p:nvSpPr>
          <p:cNvPr id="15" name="v2rayN 与 Shadowrocket 各自导入，然后访">
            <a:extLst xmlns:a="http://schemas.openxmlformats.org/drawingml/2006/main">
              <a:ext uri="{FF2B5EF4-FFF2-40B4-BE49-F238E27FC236}">
                <a16:creationId xmlns:a16="http://schemas.microsoft.com/office/drawing/2014/main" id="{3A668F48-9446-47CC-8C78-B7FC6FEA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9592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v2rayN 与 Shadowrocket 各自导入，然后访问网页验证。</a:t>
            </a:r>
          </a:p>
        </p:txBody>
      </p:sp>
    </p:spTree>
    <p:extLst>
      <p:ext uri="{BB962C8B-B14F-4D97-AF65-F5344CB8AC3E}">
        <p14:creationId xmlns:p14="http://schemas.microsoft.com/office/powerpoint/2010/main" val="2101601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部署前的条件">
            <a:extLst xmlns:a="http://schemas.openxmlformats.org/drawingml/2006/main">
              <a:ext uri="{FF2B5EF4-FFF2-40B4-BE49-F238E27FC236}">
                <a16:creationId xmlns:a16="http://schemas.microsoft.com/office/drawing/2014/main" id="{1EB7C99A-82E7-4650-8A9C-3B5F8AAA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部署前的条件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2D0C8-20B2-42FD-8E7C-5FE94F84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0E2802B4-7758-43E2-861C-4E94EB55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3E55D-F0E7-4E29-A802-5D88DF319526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076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600700"/>
                <a:gridCol w="3657600"/>
              </a:tblGrid>
              <a:tr h="679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52400" marR="114300" marT="85725" marB="66675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</a:t>
                      </a:r>
                    </a:p>
                  </a:txBody>
                  <a:tcPr marL="152400" marR="114300" marT="85725" marB="66675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152400" marR="114300" marT="85725" marB="66675">
                    <a:solidFill>
                      <a:srgbClr val="102B3B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Debian 12/13 或 Ubuntu 22.04/24.04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root、systemd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公网地址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商家分配的公网 IPv6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客户端直连与证书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80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公网可达，本机空闲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首次申请与自动续期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UDP 443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公网可达，本机空闲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Hysteria 2 代理连接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下载环境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能访问官方 GitHub 与 Let’s Encrypt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获取程序和签发证书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已有服务占用 UDP 443 时，脚本会退出并保留该服务。">
            <a:extLst xmlns:a="http://schemas.openxmlformats.org/drawingml/2006/main">
              <a:ext uri="{FF2B5EF4-FFF2-40B4-BE49-F238E27FC236}">
                <a16:creationId xmlns:a16="http://schemas.microsoft.com/office/drawing/2014/main" id="{F9FA2BC9-B5E1-48FF-BF62-70B196E7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rPr>
              <a:t>已有服务占用 UDP 443 时，脚本会退出并保留该服务。</a:t>
            </a:r>
          </a:p>
        </p:txBody>
      </p:sp>
    </p:spTree>
    <p:extLst>
      <p:ext uri="{BB962C8B-B14F-4D97-AF65-F5344CB8AC3E}">
        <p14:creationId xmlns:p14="http://schemas.microsoft.com/office/powerpoint/2010/main" val="1638644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PE 后面的 Cudy 设置">
            <a:extLst xmlns:a="http://schemas.openxmlformats.org/drawingml/2006/main">
              <a:ext uri="{FF2B5EF4-FFF2-40B4-BE49-F238E27FC236}">
                <a16:creationId xmlns:a16="http://schemas.microsoft.com/office/drawing/2014/main" id="{ADF950BE-C74C-433B-866F-566538E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CPE 后面的 Cudy 设置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01E9C-1773-41C5-BB82-6DB0C1DC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0EB1970C-9616-4400-BECF-0187A267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华为 CPE">
            <a:extLst xmlns:a="http://schemas.openxmlformats.org/drawingml/2006/main">
              <a:ext uri="{FF2B5EF4-FFF2-40B4-BE49-F238E27FC236}">
                <a16:creationId xmlns:a16="http://schemas.microsoft.com/office/drawing/2014/main" id="{069097FD-1196-4955-A513-128F50FA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华为 CPE</a:t>
            </a:r>
          </a:p>
        </p:txBody>
      </p:sp>
      <p:sp>
        <p:nvSpPr>
          <p:cNvPr id="5" name="提供上游 IPv6">
            <a:extLst xmlns:a="http://schemas.openxmlformats.org/drawingml/2006/main">
              <a:ext uri="{FF2B5EF4-FFF2-40B4-BE49-F238E27FC236}">
                <a16:creationId xmlns:a16="http://schemas.microsoft.com/office/drawing/2014/main" id="{78B6C255-3140-417E-8370-FA8DAC3B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提供上游 IPv6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182C8-E716-4FF7-9F2D-EDAE9756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716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7" name="Cudy">
            <a:extLst xmlns:a="http://schemas.openxmlformats.org/drawingml/2006/main">
              <a:ext uri="{FF2B5EF4-FFF2-40B4-BE49-F238E27FC236}">
                <a16:creationId xmlns:a16="http://schemas.microsoft.com/office/drawing/2014/main" id="{E7C1C998-0DEE-43E4-B622-BF8B58F1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240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Cudy</a:t>
            </a:r>
          </a:p>
        </p:txBody>
      </p:sp>
      <p:sp>
        <p:nvSpPr>
          <p:cNvPr id="8" name="IPv6 开启&#10;连接类型：穿透">
            <a:extLst xmlns:a="http://schemas.openxmlformats.org/drawingml/2006/main">
              <a:ext uri="{FF2B5EF4-FFF2-40B4-BE49-F238E27FC236}">
                <a16:creationId xmlns:a16="http://schemas.microsoft.com/office/drawing/2014/main" id="{A31EFBC7-0FB7-44B5-9C5D-5A9F699B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IPv6 开启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连接类型：穿透</a:t>
            </a:r>
          </a:p>
        </p:txBody>
      </p:sp>
      <p:sp>
        <p:nvSpPr>
          <p:cNvPr id="9" name="在 Cudy APP 的“设置”中操作">
            <a:extLst xmlns:a="http://schemas.openxmlformats.org/drawingml/2006/main">
              <a:ext uri="{FF2B5EF4-FFF2-40B4-BE49-F238E27FC236}">
                <a16:creationId xmlns:a16="http://schemas.microsoft.com/office/drawing/2014/main" id="{580D8731-9035-4087-B151-166B1994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09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在 Cudy APP 的“设置”中操作</a:t>
            </a:r>
          </a:p>
        </p:txBody>
      </p:sp>
      <p:sp>
        <p:nvSpPr>
          <p:cNvPr id="10" name="1  打开 IPv6 开关&#10;2  选择“穿透 / Passt">
            <a:extLst xmlns:a="http://schemas.openxmlformats.org/drawingml/2006/main">
              <a:ext uri="{FF2B5EF4-FFF2-40B4-BE49-F238E27FC236}">
                <a16:creationId xmlns:a16="http://schemas.microsoft.com/office/drawing/2014/main" id="{38458DDF-90FF-474D-A465-F3F16B2D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096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1  打开 IPv6 开关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2  选择“穿透 / Passthrough”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3  点“完成”保存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4  设备重新连接 Cudy Wi-Fi</a:t>
            </a:r>
          </a:p>
        </p:txBody>
      </p:sp>
      <p:sp>
        <p:nvSpPr>
          <p:cNvPr id="11" name="手机暂时关闭蜂窝数据，只用该 Wi-Fi 验证。">
            <a:extLst xmlns:a="http://schemas.openxmlformats.org/drawingml/2006/main">
              <a:ext uri="{FF2B5EF4-FFF2-40B4-BE49-F238E27FC236}">
                <a16:creationId xmlns:a16="http://schemas.microsoft.com/office/drawing/2014/main" id="{F643E530-FDF6-489A-9387-1C7A3A6E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709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rPr>
              <a:t>手机暂时关闭蜂窝数据，只用该 Wi-Fi 验证。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45E84-A7C2-4C9A-87F5-816E9C6D17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90e389f3a47d4"/>
          <a:srcRect xmlns:a="http://schemas.openxmlformats.org/drawingml/2006/main" l="0" t="49000" r="0" b="3000"/>
          <a:stretch xmlns:a="http://schemas.openxmlformats.org/drawingml/2006/main"/>
        </p:blipFill>
        <p:spPr>
          <a:xfrm xmlns:a="http://schemas.openxmlformats.org/drawingml/2006/main">
            <a:off x="8172450" y="1647825"/>
            <a:ext cx="3333750" cy="4495800"/>
          </a:xfrm>
          <a:prstGeom xmlns:a="http://schemas.openxmlformats.org/drawingml/2006/main" prst="rect">
            <a:avLst/>
          </a:prstGeom>
        </p:spPr>
      </p:pic>
      <p:sp>
        <p:nvSpPr>
          <p:cNvPr id="13" name="连接类型列表，点击“穿透”">
            <a:extLst xmlns:a="http://schemas.openxmlformats.org/drawingml/2006/main">
              <a:ext uri="{FF2B5EF4-FFF2-40B4-BE49-F238E27FC236}">
                <a16:creationId xmlns:a16="http://schemas.microsoft.com/office/drawing/2014/main" id="{9B88E20E-C309-4882-AEE6-B7FA98FF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21030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连接类型列表，点击“穿透”</a:t>
            </a:r>
          </a:p>
        </p:txBody>
      </p:sp>
    </p:spTree>
    <p:extLst>
      <p:ext uri="{BB962C8B-B14F-4D97-AF65-F5344CB8AC3E}">
        <p14:creationId xmlns:p14="http://schemas.microsoft.com/office/powerpoint/2010/main" val="1024272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电脑的 IPv6 一键检查">
            <a:extLst xmlns:a="http://schemas.openxmlformats.org/drawingml/2006/main">
              <a:ext uri="{FF2B5EF4-FFF2-40B4-BE49-F238E27FC236}">
                <a16:creationId xmlns:a16="http://schemas.microsoft.com/office/drawing/2014/main" id="{A9DB829A-BA9D-4E6C-8CAE-2B922A98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电脑的 IPv6 一键检查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15D10-6571-4BF0-8B77-BB4E3222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AEBDF65C-9904-48B8-BA09-29BA4D97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在电脑的 Windows PowerShell 中执行">
            <a:extLst xmlns:a="http://schemas.openxmlformats.org/drawingml/2006/main">
              <a:ext uri="{FF2B5EF4-FFF2-40B4-BE49-F238E27FC236}">
                <a16:creationId xmlns:a16="http://schemas.microsoft.com/office/drawing/2014/main" id="{75CBFFE2-CF8B-4642-9D3F-65D67070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在电脑的 Windows PowerShell 中执行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751F5-79F3-43D5-89E1-34A9A06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B"/>
          </a:solidFill>
          <a:ln xmlns:a="http://schemas.openxmlformats.org/drawingml/2006/main" w="0">
            <a:noFill/>
          </a:ln>
        </p:spPr>
      </p:sp>
      <p:sp>
        <p:nvSpPr>
          <p:cNvPr id="6" name="powershell -NoProfile -Executi">
            <a:extLst xmlns:a="http://schemas.openxmlformats.org/drawingml/2006/main">
              <a:ext uri="{FF2B5EF4-FFF2-40B4-BE49-F238E27FC236}">
                <a16:creationId xmlns:a16="http://schemas.microsoft.com/office/drawing/2014/main" id="{71C3554C-C9DE-4B6E-A8A8-846C2DDF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51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powershell -NoProfile -ExecutionPolicy Bypass -File .\check-ipv6.ps1</a:t>
            </a:r>
          </a:p>
        </p:txBody>
      </p:sp>
      <p:sp>
        <p:nvSpPr>
          <p:cNvPr id="7" name="输入商家公网 IPv6，SSH 端口默认 22">
            <a:extLst xmlns:a="http://schemas.openxmlformats.org/drawingml/2006/main">
              <a:ext uri="{FF2B5EF4-FFF2-40B4-BE49-F238E27FC236}">
                <a16:creationId xmlns:a16="http://schemas.microsoft.com/office/drawing/2014/main" id="{BA1D81C4-7349-47E2-8239-41FAFC32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输入商家公网 IPv6，SSH 端口默认 22</a:t>
            </a:r>
          </a:p>
        </p:txBody>
      </p:sp>
      <p:sp>
        <p:nvSpPr>
          <p:cNvPr id="8" name="检查结果需要看到">
            <a:extLst xmlns:a="http://schemas.openxmlformats.org/drawingml/2006/main">
              <a:ext uri="{FF2B5EF4-FFF2-40B4-BE49-F238E27FC236}">
                <a16:creationId xmlns:a16="http://schemas.microsoft.com/office/drawing/2014/main" id="{610C556E-FE21-40BF-8184-D560F686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检查结果需要看到</a:t>
            </a:r>
          </a:p>
        </p:txBody>
      </p:sp>
      <p:sp>
        <p:nvSpPr>
          <p:cNvPr id="9" name="可用 IPv6 路由，以及到 VPS 的 IPv6 TCP ">
            <a:extLst xmlns:a="http://schemas.openxmlformats.org/drawingml/2006/main">
              <a:ext uri="{FF2B5EF4-FFF2-40B4-BE49-F238E27FC236}">
                <a16:creationId xmlns:a16="http://schemas.microsoft.com/office/drawing/2014/main" id="{A22D9BC2-907F-43D6-91DB-3BC403EB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可用 IPv6 路由，以及到 VPS 的 IPv6 TCP 连接成功</a:t>
            </a:r>
          </a:p>
        </p:txBody>
      </p:sp>
      <p:sp>
        <p:nvSpPr>
          <p:cNvPr id="10" name="仅有 fe80:: 局域网地址，不能证明 IPv6 互联网可">
            <a:extLst xmlns:a="http://schemas.openxmlformats.org/drawingml/2006/main">
              <a:ext uri="{FF2B5EF4-FFF2-40B4-BE49-F238E27FC236}">
                <a16:creationId xmlns:a16="http://schemas.microsoft.com/office/drawing/2014/main" id="{7AF44B93-BB1E-4771-B2AF-124AFBB6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rPr>
              <a:t>仅有 fe80:: 局域网地址，不能证明 IPv6 互联网可用。</a:t>
            </a:r>
          </a:p>
        </p:txBody>
      </p:sp>
    </p:spTree>
    <p:extLst>
      <p:ext uri="{BB962C8B-B14F-4D97-AF65-F5344CB8AC3E}">
        <p14:creationId xmlns:p14="http://schemas.microsoft.com/office/powerpoint/2010/main" val="1437660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脚本上传到 VPS">
            <a:extLst xmlns:a="http://schemas.openxmlformats.org/drawingml/2006/main">
              <a:ext uri="{FF2B5EF4-FFF2-40B4-BE49-F238E27FC236}">
                <a16:creationId xmlns:a16="http://schemas.microsoft.com/office/drawing/2014/main" id="{3B9E85B5-7CAE-40CA-B44D-1B2DFAE1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登录 VPS 并打开仓库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75564-D985-47B4-8354-229F8204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89C867EB-05E8-47FC-A0F3-926BDFF7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9B5D8FC4-003D-4D22-962A-B7D6BB59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用 FinalShell 登录">
            <a:extLst xmlns:a="http://schemas.openxmlformats.org/drawingml/2006/main">
              <a:ext uri="{FF2B5EF4-FFF2-40B4-BE49-F238E27FC236}">
                <a16:creationId xmlns:a16="http://schemas.microsoft.com/office/drawing/2014/main" id="{79F9B34D-F6E7-4DE4-BAC3-8A89FACA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9545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用 FinalShell 登录</a:t>
            </a:r>
          </a:p>
        </p:txBody>
      </p:sp>
      <p:sp>
        <p:nvSpPr>
          <p:cNvPr id="6" name="服务器填商家公网 IPv6，端口按商家说明，通常为 22。">
            <a:extLst xmlns:a="http://schemas.openxmlformats.org/drawingml/2006/main">
              <a:ext uri="{FF2B5EF4-FFF2-40B4-BE49-F238E27FC236}">
                <a16:creationId xmlns:a16="http://schemas.microsoft.com/office/drawing/2014/main" id="{88A6FCC9-B909-4ECF-8E51-D2EE1EF8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8122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服务器填商家公网 IPv6，端口按商家说明，通常为 22。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81460B54-9CB2-4904-9438-E0E88D13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进入 VPS 的 /root 目录">
            <a:extLst xmlns:a="http://schemas.openxmlformats.org/drawingml/2006/main">
              <a:ext uri="{FF2B5EF4-FFF2-40B4-BE49-F238E27FC236}">
                <a16:creationId xmlns:a16="http://schemas.microsoft.com/office/drawing/2014/main" id="{0160B971-CEBE-48AA-BACA-A48C7BCE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打开 GitHub 仓库</a:t>
            </a:r>
          </a:p>
        </p:txBody>
      </p:sp>
      <p:sp>
        <p:nvSpPr>
          <p:cNvPr id="9" name="在 FinalShell 的服务器文件面板打开 /root。">
            <a:extLst xmlns:a="http://schemas.openxmlformats.org/drawingml/2006/main">
              <a:ext uri="{FF2B5EF4-FFF2-40B4-BE49-F238E27FC236}">
                <a16:creationId xmlns:a16="http://schemas.microsoft.com/office/drawing/2014/main" id="{DC1B6C68-70E7-4344-8B37-C43B728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1947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在浏览器打开下方仓库地址，查看 README。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245E814A-6648-4A00-857E-E8D021E6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上传部署脚本">
            <a:extLst xmlns:a="http://schemas.openxmlformats.org/drawingml/2006/main">
              <a:ext uri="{FF2B5EF4-FFF2-40B4-BE49-F238E27FC236}">
                <a16:creationId xmlns:a16="http://schemas.microsoft.com/office/drawing/2014/main" id="{7B8A9395-4471-4167-8E64-A35EFE9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复制 README 的一键命令</a:t>
            </a:r>
          </a:p>
        </p:txBody>
      </p:sp>
      <p:sp>
        <p:nvSpPr>
          <p:cNvPr id="12" name="拖入 deploy-hy2-ipv6.sh，文件名保持一致。">
            <a:extLst xmlns:a="http://schemas.openxmlformats.org/drawingml/2006/main">
              <a:ext uri="{FF2B5EF4-FFF2-40B4-BE49-F238E27FC236}">
                <a16:creationId xmlns:a16="http://schemas.microsoft.com/office/drawing/2014/main" id="{5EB90D87-9479-4012-9C7F-07C66C02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5772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粘贴到 VPS 的 root 终端；下一页也给出命令。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A9E1C-041E-47F2-8220-807E92CA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B"/>
          </a:solidFill>
          <a:ln xmlns:a="http://schemas.openxmlformats.org/drawingml/2006/main" w="0">
            <a:noFill/>
          </a:ln>
        </p:spPr>
      </p:sp>
      <p:sp>
        <p:nvSpPr>
          <p:cNvPr id="14" name="ls -l /root/deploy-hy2-ipv6.sh">
            <a:extLst xmlns:a="http://schemas.openxmlformats.org/drawingml/2006/main">
              <a:ext uri="{FF2B5EF4-FFF2-40B4-BE49-F238E27FC236}">
                <a16:creationId xmlns:a16="http://schemas.microsoft.com/office/drawing/2014/main" id="{4C3FA460-3CBA-4A6A-9246-613A1A7A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https://github.com/po64267667-spec/ipv6</a:t>
            </a:r>
          </a:p>
        </p:txBody>
      </p:sp>
    </p:spTree>
    <p:extLst>
      <p:ext uri="{BB962C8B-B14F-4D97-AF65-F5344CB8AC3E}">
        <p14:creationId xmlns:p14="http://schemas.microsoft.com/office/powerpoint/2010/main" val="1624441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一条命令开始部署">
            <a:extLst xmlns:a="http://schemas.openxmlformats.org/drawingml/2006/main">
              <a:ext uri="{FF2B5EF4-FFF2-40B4-BE49-F238E27FC236}">
                <a16:creationId xmlns:a16="http://schemas.microsoft.com/office/drawing/2014/main" id="{D0D6F177-8CE4-4FA7-93B9-1BF02D87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一条命令开始部署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078FF-A40E-46C4-A212-399843C0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89A71AB7-FA7B-4B94-9778-AAD51D6D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A92A5-F140-44B7-BA46-FDD157A2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B"/>
          </a:solidFill>
          <a:ln xmlns:a="http://schemas.openxmlformats.org/drawingml/2006/main" w="0">
            <a:noFill/>
          </a:ln>
        </p:spPr>
      </p:sp>
      <p:sp>
        <p:nvSpPr>
          <p:cNvPr id="5" name="bash /root/deploy-hy2-ipv6.sh">
            <a:extLst xmlns:a="http://schemas.openxmlformats.org/drawingml/2006/main">
              <a:ext uri="{FF2B5EF4-FFF2-40B4-BE49-F238E27FC236}">
                <a16:creationId xmlns:a16="http://schemas.microsoft.com/office/drawing/2014/main" id="{2137D328-3B39-41F5-8A9F-16FA8116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0515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curl -fL --proto '=https' --proto-redir '=https'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'https://raw.githubusercontent.com/po64267667-spec/ipv6/main/deploy-hy2-ipv6.sh'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-o /root/deploy-hy2-ipv6.sh &amp;&amp;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 '%s  %s\n'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'4d610bb81e86584ca1f27421171bb66ee58dcdd944f9b22d98581aa6478f2d51'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'/root/deploy-hy2-ipv6.sh' | sha256sum -c - &amp;&amp;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bash /root/deploy-hy2-ipv6.sh</a:t>
            </a:r>
          </a:p>
        </p:txBody>
      </p:sp>
      <p:sp>
        <p:nvSpPr>
          <p:cNvPr id="6" name="运行位置：VPS 的 FinalShell 终端，root ">
            <a:extLst xmlns:a="http://schemas.openxmlformats.org/drawingml/2006/main">
              <a:ext uri="{FF2B5EF4-FFF2-40B4-BE49-F238E27FC236}">
                <a16:creationId xmlns:a16="http://schemas.microsoft.com/office/drawing/2014/main" id="{29796101-6E6F-4EE0-81AD-967D77AD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运行位置：VPS 的 FinalShell 终端，root 用户</a:t>
            </a:r>
          </a:p>
        </p:txBody>
      </p:sp>
      <p:sp>
        <p:nvSpPr>
          <p:cNvPr id="7" name="唯一需要输入的值">
            <a:extLst xmlns:a="http://schemas.openxmlformats.org/drawingml/2006/main">
              <a:ext uri="{FF2B5EF4-FFF2-40B4-BE49-F238E27FC236}">
                <a16:creationId xmlns:a16="http://schemas.microsoft.com/office/drawing/2014/main" id="{674355C8-1EB3-4EBC-ABDF-55160C0A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唯一需要输入的值</a:t>
            </a:r>
          </a:p>
        </p:txBody>
      </p:sp>
      <p:sp>
        <p:nvSpPr>
          <p:cNvPr id="8" name="商家分配的公网 IPv6">
            <a:extLst xmlns:a="http://schemas.openxmlformats.org/drawingml/2006/main">
              <a:ext uri="{FF2B5EF4-FFF2-40B4-BE49-F238E27FC236}">
                <a16:creationId xmlns:a16="http://schemas.microsoft.com/office/drawing/2014/main" id="{16F2926D-F024-4572-BE1A-A72497A5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商家分配的公网 IPv6</a:t>
            </a:r>
          </a:p>
        </p:txBody>
      </p:sp>
      <p:sp>
        <p:nvSpPr>
          <p:cNvPr id="9" name="2001:db8::10 仅是教程示例，不能直接用于部署。">
            <a:extLst xmlns:a="http://schemas.openxmlformats.org/drawingml/2006/main">
              <a:ext uri="{FF2B5EF4-FFF2-40B4-BE49-F238E27FC236}">
                <a16:creationId xmlns:a16="http://schemas.microsoft.com/office/drawing/2014/main" id="{E82BE026-5332-4818-BB8C-2D915535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rPr>
              <a:t>2001:db8::10 仅是教程示例，不能直接用于部署。</a:t>
            </a:r>
          </a:p>
        </p:txBody>
      </p:sp>
    </p:spTree>
    <p:extLst>
      <p:ext uri="{BB962C8B-B14F-4D97-AF65-F5344CB8AC3E}">
        <p14:creationId xmlns:p14="http://schemas.microsoft.com/office/powerpoint/2010/main" val="761635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安装完成后的连接信息">
            <a:extLst xmlns:a="http://schemas.openxmlformats.org/drawingml/2006/main">
              <a:ext uri="{FF2B5EF4-FFF2-40B4-BE49-F238E27FC236}">
                <a16:creationId xmlns:a16="http://schemas.microsoft.com/office/drawing/2014/main" id="{B44689BF-42D8-4DF0-82AB-630648F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安装完成后的连接信息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FBF9E-37F1-4877-8BE2-49534713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E8F93DCE-2AA7-4371-BC2E-F797CA56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终端会输出原始节点链接和二维码">
            <a:extLst xmlns:a="http://schemas.openxmlformats.org/drawingml/2006/main">
              <a:ext uri="{FF2B5EF4-FFF2-40B4-BE49-F238E27FC236}">
                <a16:creationId xmlns:a16="http://schemas.microsoft.com/office/drawing/2014/main" id="{B56EA6E7-FA7D-4717-81CD-846F5DBB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终端会输出原始节点链接和二维码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46AFB-3565-4C75-8C8B-B73398D6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728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B"/>
          </a:solidFill>
          <a:ln xmlns:a="http://schemas.openxmlformats.org/drawingml/2006/main" w="0">
            <a:noFill/>
          </a:ln>
        </p:spPr>
      </p:sp>
      <p:sp>
        <p:nvSpPr>
          <p:cNvPr id="6" name="hysteria2://&lt;认证密码&gt;@[&lt;公网IPv6&gt;]:">
            <a:extLst xmlns:a="http://schemas.openxmlformats.org/drawingml/2006/main">
              <a:ext uri="{FF2B5EF4-FFF2-40B4-BE49-F238E27FC236}">
                <a16:creationId xmlns:a16="http://schemas.microsoft.com/office/drawing/2014/main" id="{5FBD6754-C5EC-4F27-8657-E5699BFA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051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hysteria2://&lt;认证密码&gt;@[&lt;公网IPv6&gt;]:443/…</a:t>
            </a:r>
          </a:p>
        </p:txBody>
      </p:sp>
      <p:sp>
        <p:nvSpPr>
          <p:cNvPr id="7" name="二维码图片保存在 VPS">
            <a:extLst xmlns:a="http://schemas.openxmlformats.org/drawingml/2006/main">
              <a:ext uri="{FF2B5EF4-FFF2-40B4-BE49-F238E27FC236}">
                <a16:creationId xmlns:a16="http://schemas.microsoft.com/office/drawing/2014/main" id="{EACD45BE-6B3C-4D3D-956A-28C44548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二维码图片保存在 VPS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BABB2-6911-4521-891E-FCC458FD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B"/>
          </a:solidFill>
          <a:ln xmlns:a="http://schemas.openxmlformats.org/drawingml/2006/main" w="0">
            <a:noFill/>
          </a:ln>
        </p:spPr>
      </p:sp>
      <p:sp>
        <p:nvSpPr>
          <p:cNvPr id="9" name="/etc/hy2-ipv6-kit/connection.p">
            <a:extLst xmlns:a="http://schemas.openxmlformats.org/drawingml/2006/main">
              <a:ext uri="{FF2B5EF4-FFF2-40B4-BE49-F238E27FC236}">
                <a16:creationId xmlns:a16="http://schemas.microsoft.com/office/drawing/2014/main" id="{479FF53B-F7C9-4513-9244-B667BFEC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/etc/hy2-ipv6-kit/connection.png</a:t>
            </a:r>
          </a:p>
        </p:txBody>
      </p:sp>
      <p:sp>
        <p:nvSpPr>
          <p:cNvPr id="10" name="复制实际输出的完整链接，或用 FinalShell 下载这张">
            <a:extLst xmlns:a="http://schemas.openxmlformats.org/drawingml/2006/main">
              <a:ext uri="{FF2B5EF4-FFF2-40B4-BE49-F238E27FC236}">
                <a16:creationId xmlns:a16="http://schemas.microsoft.com/office/drawing/2014/main" id="{BA02DF18-9D2F-4C43-A48C-267F3204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复制实际输出的完整链接，或用 FinalShell 下载这张 PNG。</a:t>
            </a:r>
          </a:p>
        </p:txBody>
      </p:sp>
      <p:sp>
        <p:nvSpPr>
          <p:cNvPr id="11" name="链接和二维码包含节点凭据，请私下保存。">
            <a:extLst xmlns:a="http://schemas.openxmlformats.org/drawingml/2006/main">
              <a:ext uri="{FF2B5EF4-FFF2-40B4-BE49-F238E27FC236}">
                <a16:creationId xmlns:a16="http://schemas.microsoft.com/office/drawing/2014/main" id="{C22FEAB9-89E3-4FE4-8225-4D8D4EC2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rPr>
              <a:t>链接和二维码包含节点凭据，请私下保存。</a:t>
            </a:r>
          </a:p>
        </p:txBody>
      </p:sp>
    </p:spTree>
    <p:extLst>
      <p:ext uri="{BB962C8B-B14F-4D97-AF65-F5344CB8AC3E}">
        <p14:creationId xmlns:p14="http://schemas.microsoft.com/office/powerpoint/2010/main" val="1198958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2rayN 导入与验证">
            <a:extLst xmlns:a="http://schemas.openxmlformats.org/drawingml/2006/main">
              <a:ext uri="{FF2B5EF4-FFF2-40B4-BE49-F238E27FC236}">
                <a16:creationId xmlns:a16="http://schemas.microsoft.com/office/drawing/2014/main" id="{79678907-2B6C-40B4-BA83-58520DFC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v2rayN 导入与验证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413B0-2C29-417A-86DA-9D7D6977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0DDD6E78-F09C-45DB-8C59-B3667078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BD60279A-E8A3-492B-AAD2-80B7819E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复制脚本输出的完整链接">
            <a:extLst xmlns:a="http://schemas.openxmlformats.org/drawingml/2006/main">
              <a:ext uri="{FF2B5EF4-FFF2-40B4-BE49-F238E27FC236}">
                <a16:creationId xmlns:a16="http://schemas.microsoft.com/office/drawing/2014/main" id="{4DCAE519-79A0-48E3-A8AD-A73787D3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66875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复制脚本输出的完整链接</a:t>
            </a:r>
          </a:p>
        </p:txBody>
      </p:sp>
      <p:sp>
        <p:nvSpPr>
          <p:cNvPr id="6" name="使用原始 hysteria2:// 链接。">
            <a:extLst xmlns:a="http://schemas.openxmlformats.org/drawingml/2006/main">
              <a:ext uri="{FF2B5EF4-FFF2-40B4-BE49-F238E27FC236}">
                <a16:creationId xmlns:a16="http://schemas.microsoft.com/office/drawing/2014/main" id="{413D9CB6-519C-4F8C-A9DD-656E89C9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526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使用原始 hysteria2:// 链接。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1552CA49-B290-4901-83A8-289B2DE9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在 v2rayN 主窗口导入">
            <a:extLst xmlns:a="http://schemas.openxmlformats.org/drawingml/2006/main">
              <a:ext uri="{FF2B5EF4-FFF2-40B4-BE49-F238E27FC236}">
                <a16:creationId xmlns:a16="http://schemas.microsoft.com/office/drawing/2014/main" id="{0B34019E-E1A1-442D-95AA-822167F1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67025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在 v2rayN 主窗口导入</a:t>
            </a:r>
          </a:p>
        </p:txBody>
      </p:sp>
      <p:sp>
        <p:nvSpPr>
          <p:cNvPr id="9" name="从剪贴板导入服务器，选择这条 Hysteria 2 节点。">
            <a:extLst xmlns:a="http://schemas.openxmlformats.org/drawingml/2006/main">
              <a:ext uri="{FF2B5EF4-FFF2-40B4-BE49-F238E27FC236}">
                <a16:creationId xmlns:a16="http://schemas.microsoft.com/office/drawing/2014/main" id="{4194198B-4D52-4B30-9563-71E3E9F1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从剪贴板导入服务器，选择这条 Hysteria 2 节点。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EEEDDCD8-9FBA-440C-A1C5-F6C3F3D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开启系统代理并访问网页">
            <a:extLst xmlns:a="http://schemas.openxmlformats.org/drawingml/2006/main">
              <a:ext uri="{FF2B5EF4-FFF2-40B4-BE49-F238E27FC236}">
                <a16:creationId xmlns:a16="http://schemas.microsoft.com/office/drawing/2014/main" id="{2B256114-BDCC-4D5C-9967-634BD65C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67175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开启系统代理并访问网页</a:t>
            </a:r>
          </a:p>
        </p:txBody>
      </p:sp>
      <p:sp>
        <p:nvSpPr>
          <p:cNvPr id="12" name="使用支持 Hysteria 2 的客户端核心，检查真实网页访">
            <a:extLst xmlns:a="http://schemas.openxmlformats.org/drawingml/2006/main">
              <a:ext uri="{FF2B5EF4-FFF2-40B4-BE49-F238E27FC236}">
                <a16:creationId xmlns:a16="http://schemas.microsoft.com/office/drawing/2014/main" id="{ADC59766-EDDB-45AD-A422-9F6A101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529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使用支持 Hysteria 2 的客户端核心，检查真实网页访问。</a:t>
            </a:r>
          </a:p>
        </p:txBody>
      </p:sp>
      <p:sp>
        <p:nvSpPr>
          <p:cNvPr id="13" name="核对：公网 IPv6、443、Hysteria 2、Sala">
            <a:extLst xmlns:a="http://schemas.openxmlformats.org/drawingml/2006/main">
              <a:ext uri="{FF2B5EF4-FFF2-40B4-BE49-F238E27FC236}">
                <a16:creationId xmlns:a16="http://schemas.microsoft.com/office/drawing/2014/main" id="{A7D3C238-48CE-4F9D-AF0E-C85D422B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核对：公网 IPv6、443、Hysteria 2、Salamander。</a:t>
            </a:r>
          </a:p>
        </p:txBody>
      </p:sp>
    </p:spTree>
    <p:extLst>
      <p:ext uri="{BB962C8B-B14F-4D97-AF65-F5344CB8AC3E}">
        <p14:creationId xmlns:p14="http://schemas.microsoft.com/office/powerpoint/2010/main" val="19341571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hadowrocket 导入与验证">
            <a:extLst xmlns:a="http://schemas.openxmlformats.org/drawingml/2006/main">
              <a:ext uri="{FF2B5EF4-FFF2-40B4-BE49-F238E27FC236}">
                <a16:creationId xmlns:a16="http://schemas.microsoft.com/office/drawing/2014/main" id="{4E2C38A1-64C8-4063-9456-48C06757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Shadowrocket 导入与验证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472C9-EB7B-4BCB-A008-4E8C114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0A69E5D3-6C88-46C4-BCEF-6E4411FF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2B156AF6-907D-414E-A534-1A3C504C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扫描脚本生成的原始二维码">
            <a:extLst xmlns:a="http://schemas.openxmlformats.org/drawingml/2006/main">
              <a:ext uri="{FF2B5EF4-FFF2-40B4-BE49-F238E27FC236}">
                <a16:creationId xmlns:a16="http://schemas.microsoft.com/office/drawing/2014/main" id="{41E4CBBC-B37E-4DBB-957F-3B9258AC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9545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扫描脚本生成的原始二维码</a:t>
            </a:r>
          </a:p>
        </p:txBody>
      </p:sp>
      <p:sp>
        <p:nvSpPr>
          <p:cNvPr id="6" name="扫描终端二维码，或下载并打开 connection.png。">
            <a:extLst xmlns:a="http://schemas.openxmlformats.org/drawingml/2006/main">
              <a:ext uri="{FF2B5EF4-FFF2-40B4-BE49-F238E27FC236}">
                <a16:creationId xmlns:a16="http://schemas.microsoft.com/office/drawing/2014/main" id="{0631E25F-94FA-46C7-A2FB-3C03481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8122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扫描终端二维码，或下载并打开 connection.png。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F775891-1BC5-4C8F-9236-D01EA559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选择新节点并开启连接">
            <a:extLst xmlns:a="http://schemas.openxmlformats.org/drawingml/2006/main">
              <a:ext uri="{FF2B5EF4-FFF2-40B4-BE49-F238E27FC236}">
                <a16:creationId xmlns:a16="http://schemas.microsoft.com/office/drawing/2014/main" id="{33C45941-BF6D-48C6-BC91-FA89BED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选择新节点并开启连接</a:t>
            </a:r>
          </a:p>
        </p:txBody>
      </p:sp>
      <p:sp>
        <p:nvSpPr>
          <p:cNvPr id="9" name="确认类型 Hysteria2、端口 443，保留正常证书校验">
            <a:extLst xmlns:a="http://schemas.openxmlformats.org/drawingml/2006/main">
              <a:ext uri="{FF2B5EF4-FFF2-40B4-BE49-F238E27FC236}">
                <a16:creationId xmlns:a16="http://schemas.microsoft.com/office/drawing/2014/main" id="{3EFDEB6B-241D-4FBD-8C7A-7E5D10EA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1947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确认类型 Hysteria2、端口 443，保留正常证书校验。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18134CA9-DCE9-4ABF-962F-51CD3452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只用目标 Wi-Fi 测试网页">
            <a:extLst xmlns:a="http://schemas.openxmlformats.org/drawingml/2006/main">
              <a:ext uri="{FF2B5EF4-FFF2-40B4-BE49-F238E27FC236}">
                <a16:creationId xmlns:a16="http://schemas.microsoft.com/office/drawing/2014/main" id="{7E4C570E-25C0-4F36-A9C5-1DDCE7AA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只用目标 Wi-Fi 测试网页</a:t>
            </a:r>
          </a:p>
        </p:txBody>
      </p:sp>
      <p:sp>
        <p:nvSpPr>
          <p:cNvPr id="12" name="临时关闭蜂窝数据，确认没有使用移动数据回退。">
            <a:extLst xmlns:a="http://schemas.openxmlformats.org/drawingml/2006/main">
              <a:ext uri="{FF2B5EF4-FFF2-40B4-BE49-F238E27FC236}">
                <a16:creationId xmlns:a16="http://schemas.microsoft.com/office/drawing/2014/main" id="{90F1B0F7-DC65-4EC9-A69A-C5AD8C12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5772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临时关闭蜂窝数据，确认没有使用移动数据回退。</a:t>
            </a:r>
          </a:p>
        </p:txBody>
      </p:sp>
      <p:sp>
        <p:nvSpPr>
          <p:cNvPr id="13" name="手机与电脑分别验收各自的网络连接。">
            <a:extLst xmlns:a="http://schemas.openxmlformats.org/drawingml/2006/main">
              <a:ext uri="{FF2B5EF4-FFF2-40B4-BE49-F238E27FC236}">
                <a16:creationId xmlns:a16="http://schemas.microsoft.com/office/drawing/2014/main" id="{DDD7EAE7-7B37-4CB6-B634-CE16B575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手机与电脑分别验收各自的网络连接。</a:t>
            </a:r>
          </a:p>
        </p:txBody>
      </p:sp>
    </p:spTree>
    <p:extLst>
      <p:ext uri="{BB962C8B-B14F-4D97-AF65-F5344CB8AC3E}">
        <p14:creationId xmlns:p14="http://schemas.microsoft.com/office/powerpoint/2010/main" val="430143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再次运行与日常检查">
            <a:extLst xmlns:a="http://schemas.openxmlformats.org/drawingml/2006/main">
              <a:ext uri="{FF2B5EF4-FFF2-40B4-BE49-F238E27FC236}">
                <a16:creationId xmlns:a16="http://schemas.microsoft.com/office/drawing/2014/main" id="{2CAE015D-629B-4405-9427-FDE8B138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再次运行与日常检查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DABF2-D549-4317-8AD4-F65EE90F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5DE09C6F-12A9-4E19-AB6B-71CF2107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9CF77-E1F7-4B24-89A5-2CF8FEA8F213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38450"/>
                <a:gridCol w="4981575"/>
                <a:gridCol w="3152775"/>
              </a:tblGrid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152400" marR="114300" marT="85725" marB="66675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</a:t>
                      </a:r>
                    </a:p>
                  </a:txBody>
                  <a:tcPr marL="152400" marR="114300" marT="85725" marB="66675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预期结果</a:t>
                      </a:r>
                    </a:p>
                  </a:txBody>
                  <a:tcPr marL="152400" marR="114300" marT="85725" marB="66675">
                    <a:solidFill>
                      <a:srgbClr val="102B3B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首次安装或失败后继续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bash deploy-hy2-ipv6.sh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继续本包部署流程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只读检查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bash deploy-hy2-ipv6.sh --check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服务、证书、端口状态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重新显示链接和二维码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bash deploy-hy2-ipv6.sh show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URI 与终端二维码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在 /root 目录执行；脚本会保留本包已有的连接凭据。">
            <a:extLst xmlns:a="http://schemas.openxmlformats.org/drawingml/2006/main">
              <a:ext uri="{FF2B5EF4-FFF2-40B4-BE49-F238E27FC236}">
                <a16:creationId xmlns:a16="http://schemas.microsoft.com/office/drawing/2014/main" id="{BB1321A2-13D6-48FA-BC68-1E904891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在 /root 目录执行；脚本会保留本包已有的连接凭据。</a:t>
            </a:r>
          </a:p>
        </p:txBody>
      </p:sp>
      <p:sp>
        <p:nvSpPr>
          <p:cNvPr id="6" name="既有 3X-UI 或其他服务占用 UDP 443 时，会提示">
            <a:extLst xmlns:a="http://schemas.openxmlformats.org/drawingml/2006/main">
              <a:ext uri="{FF2B5EF4-FFF2-40B4-BE49-F238E27FC236}">
                <a16:creationId xmlns:a16="http://schemas.microsoft.com/office/drawing/2014/main" id="{245DBA2E-F174-47C9-B834-77DA6C3B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rPr>
              <a:t>既有 3X-UI 或其他服务占用 UDP 443 时，会提示退出。</a:t>
            </a:r>
          </a:p>
        </p:txBody>
      </p:sp>
    </p:spTree>
    <p:extLst>
      <p:ext uri="{BB962C8B-B14F-4D97-AF65-F5344CB8AC3E}">
        <p14:creationId xmlns:p14="http://schemas.microsoft.com/office/powerpoint/2010/main" val="20930532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证书续期由脚本处理">
            <a:extLst xmlns:a="http://schemas.openxmlformats.org/drawingml/2006/main">
              <a:ext uri="{FF2B5EF4-FFF2-40B4-BE49-F238E27FC236}">
                <a16:creationId xmlns:a16="http://schemas.microsoft.com/office/drawing/2014/main" id="{91A0FA12-9A14-4E2E-9F0E-B92C998C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证书续期由脚本处理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4074B-26BA-469A-833B-DE4A873B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62FFA341-1C15-4467-B682-CB229611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Let’s Encrypt IPv6 IP 正式证书">
            <a:extLst xmlns:a="http://schemas.openxmlformats.org/drawingml/2006/main">
              <a:ext uri="{FF2B5EF4-FFF2-40B4-BE49-F238E27FC236}">
                <a16:creationId xmlns:a16="http://schemas.microsoft.com/office/drawing/2014/main" id="{89429BE7-4E51-4E68-A69E-C25B7B1D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Let’s Encrypt IPv6 IP 正式证书</a:t>
            </a:r>
          </a:p>
        </p:txBody>
      </p:sp>
      <p:sp>
        <p:nvSpPr>
          <p:cNvPr id="5" name="有效期约 160 小时">
            <a:extLst xmlns:a="http://schemas.openxmlformats.org/drawingml/2006/main">
              <a:ext uri="{FF2B5EF4-FFF2-40B4-BE49-F238E27FC236}">
                <a16:creationId xmlns:a16="http://schemas.microsoft.com/office/drawing/2014/main" id="{1CA3E205-1CBC-44B0-873B-2631EAEB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有效期约 160 小时</a:t>
            </a:r>
          </a:p>
        </p:txBody>
      </p:sp>
      <p:sp>
        <p:nvSpPr>
          <p:cNvPr id="6" name="定时任务每 6 小时检查一次，按续期时间自动换证。">
            <a:extLst xmlns:a="http://schemas.openxmlformats.org/drawingml/2006/main">
              <a:ext uri="{FF2B5EF4-FFF2-40B4-BE49-F238E27FC236}">
                <a16:creationId xmlns:a16="http://schemas.microsoft.com/office/drawing/2014/main" id="{525274B8-29E4-4074-A692-4057DB4C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定时任务每 6 小时检查一次，按续期时间自动换证。</a:t>
            </a:r>
          </a:p>
        </p:txBody>
      </p:sp>
      <p:sp>
        <p:nvSpPr>
          <p:cNvPr id="7" name="保持公网 IPv6 TCP 80 可达，并留出验证端口。">
            <a:extLst xmlns:a="http://schemas.openxmlformats.org/drawingml/2006/main">
              <a:ext uri="{FF2B5EF4-FFF2-40B4-BE49-F238E27FC236}">
                <a16:creationId xmlns:a16="http://schemas.microsoft.com/office/drawing/2014/main" id="{6D7B02C0-F17C-4271-9E60-49D1672B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保持公网 IPv6 TCP 80 可达，并留出验证端口。</a:t>
            </a:r>
          </a:p>
        </p:txBody>
      </p:sp>
      <p:sp>
        <p:nvSpPr>
          <p:cNvPr id="8" name="换证后重启本包服务，连接可能短暂重建。">
            <a:extLst xmlns:a="http://schemas.openxmlformats.org/drawingml/2006/main">
              <a:ext uri="{FF2B5EF4-FFF2-40B4-BE49-F238E27FC236}">
                <a16:creationId xmlns:a16="http://schemas.microsoft.com/office/drawing/2014/main" id="{3A7D93C7-F4D6-4E8E-913E-5F6F1FE7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换证后重启本包服务，连接可能短暂重建。</a:t>
            </a:r>
          </a:p>
        </p:txBody>
      </p:sp>
    </p:spTree>
    <p:extLst>
      <p:ext uri="{BB962C8B-B14F-4D97-AF65-F5344CB8AC3E}">
        <p14:creationId xmlns:p14="http://schemas.microsoft.com/office/powerpoint/2010/main" val="14620905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出现问题时先看哪一层">
            <a:extLst xmlns:a="http://schemas.openxmlformats.org/drawingml/2006/main">
              <a:ext uri="{FF2B5EF4-FFF2-40B4-BE49-F238E27FC236}">
                <a16:creationId xmlns:a16="http://schemas.microsoft.com/office/drawing/2014/main" id="{AC56303A-0CFB-4F8E-84FD-11946AC2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出现问题时先看哪一层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29A76-4BDF-4F3D-B9F6-53267931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5FC6A02E-F2A5-4EF9-8DC2-5043D4D0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7043E-1B51-4C49-B563-F0466C7F9191}"/>
              </a:ext>
            </a:extLst>
          </p:cNvPr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4086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47975"/>
                <a:gridCol w="3686175"/>
                <a:gridCol w="4438650"/>
              </a:tblGrid>
              <a:tr h="6810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152400" marR="114300" marT="85725" marB="66675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先检查</a:t>
                      </a:r>
                    </a:p>
                  </a:txBody>
                  <a:tcPr marL="152400" marR="114300" marT="85725" marB="66675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处理方向</a:t>
                      </a:r>
                    </a:p>
                  </a:txBody>
                  <a:tcPr marL="152400" marR="114300" marT="85725" marB="66675">
                    <a:solidFill>
                      <a:srgbClr val="102B3B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只有某个 Wi-Fi 不能用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 IPv6 地址与路由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Cudy IPv6、穿透及重新连接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 UDP 443 已被占用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端口对应的进程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保留已有服务，使用新机或规划端口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证书申请失败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 IPv6、TCP 80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确认地址与验证端口可达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客户端超时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UDP 443、网络、混淆参数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使用原始链接并看具体报错</a:t>
                      </a:r>
                    </a:p>
                  </a:txBody>
                  <a:tcPr marL="152400" marR="114300" marT="85725" marB="66675">
                    <a:solidFill>
                      <a:srgbClr val="E8F0F4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证书过期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cron 与 TCP 80、续期日志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E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恢复条件后重跑部署</a:t>
                      </a:r>
                    </a:p>
                  </a:txBody>
                  <a:tcPr marL="152400" marR="114300" marT="85725" marB="66675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服务 active、TCP 测试通过之后，还要验证客户端网页">
            <a:extLst xmlns:a="http://schemas.openxmlformats.org/drawingml/2006/main">
              <a:ext uri="{FF2B5EF4-FFF2-40B4-BE49-F238E27FC236}">
                <a16:creationId xmlns:a16="http://schemas.microsoft.com/office/drawing/2014/main" id="{7D9E4576-8F2C-47EF-91AB-16666009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rPr>
              <a:t>服务 active、TCP 测试通过之后，还要验证客户端网页访问。</a:t>
            </a:r>
          </a:p>
        </p:txBody>
      </p:sp>
    </p:spTree>
    <p:extLst>
      <p:ext uri="{BB962C8B-B14F-4D97-AF65-F5344CB8AC3E}">
        <p14:creationId xmlns:p14="http://schemas.microsoft.com/office/powerpoint/2010/main" val="16111120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版本、验证范围和资料">
            <a:extLst xmlns:a="http://schemas.openxmlformats.org/drawingml/2006/main">
              <a:ext uri="{FF2B5EF4-FFF2-40B4-BE49-F238E27FC236}">
                <a16:creationId xmlns:a16="http://schemas.microsoft.com/office/drawing/2014/main" id="{00B0D7A4-8AF5-4950-BBA1-E7392334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版本、验证范围和资料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52B3E-E449-4125-8EA2-BF20CDCA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B"/>
          </a:solidFill>
          <a:ln xmlns:a="http://schemas.openxmlformats.org/drawingml/2006/main" w="0">
            <a:noFill/>
          </a:ln>
        </p:spPr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67B5374C-6BDA-470A-ABB9-81E2DD46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固定版本">
            <a:extLst xmlns:a="http://schemas.openxmlformats.org/drawingml/2006/main">
              <a:ext uri="{FF2B5EF4-FFF2-40B4-BE49-F238E27FC236}">
                <a16:creationId xmlns:a16="http://schemas.microsoft.com/office/drawing/2014/main" id="{2FDE0B7D-554C-4F72-BB6C-19C6E4C3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固定版本</a:t>
            </a:r>
          </a:p>
        </p:txBody>
      </p:sp>
      <p:sp>
        <p:nvSpPr>
          <p:cNvPr id="5" name="Hysteria 2.13.0&#10;acme.sh 3.1.6">
            <a:extLst xmlns:a="http://schemas.openxmlformats.org/drawingml/2006/main">
              <a:ext uri="{FF2B5EF4-FFF2-40B4-BE49-F238E27FC236}">
                <a16:creationId xmlns:a16="http://schemas.microsoft.com/office/drawing/2014/main" id="{146B6937-6ACD-4306-83BC-C86A39A3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Hysteria 2.13.0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07F7B"/>
                </a:solidFill>
                <a:latin typeface="Microsoft YaHei"/>
                <a:ea typeface="Microsoft YaHei"/>
                <a:cs typeface="Microsoft YaHei"/>
              </a:rPr>
              <a:t>acme.sh 3.1.6</a:t>
            </a:r>
          </a:p>
        </p:txBody>
      </p:sp>
      <p:sp>
        <p:nvSpPr>
          <p:cNvPr id="6" name="使用官方源和 SHA-256 校验">
            <a:extLst xmlns:a="http://schemas.openxmlformats.org/drawingml/2006/main">
              <a:ext uri="{FF2B5EF4-FFF2-40B4-BE49-F238E27FC236}">
                <a16:creationId xmlns:a16="http://schemas.microsoft.com/office/drawing/2014/main" id="{85DB6106-A274-4087-B85D-875DFACD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使用官方源和 SHA-256 校验</a:t>
            </a:r>
          </a:p>
        </p:txBody>
      </p:sp>
      <p:sp>
        <p:nvSpPr>
          <p:cNvPr id="7" name="验证范围">
            <a:extLst xmlns:a="http://schemas.openxmlformats.org/drawingml/2006/main">
              <a:ext uri="{FF2B5EF4-FFF2-40B4-BE49-F238E27FC236}">
                <a16:creationId xmlns:a16="http://schemas.microsoft.com/office/drawing/2014/main" id="{26CF3B13-6A07-4F0C-ABD2-336C59DC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240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验证范围</a:t>
            </a:r>
          </a:p>
        </p:txBody>
      </p:sp>
      <p:sp>
        <p:nvSpPr>
          <p:cNvPr id="8" name="Bash 静态检查、Windows 诊断测试&#10;原生程序 IP">
            <a:extLst xmlns:a="http://schemas.openxmlformats.org/drawingml/2006/main">
              <a:ext uri="{FF2B5EF4-FFF2-40B4-BE49-F238E27FC236}">
                <a16:creationId xmlns:a16="http://schemas.microsoft.com/office/drawing/2014/main" id="{6D746509-EE44-41BF-B4DD-22D3B5E8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14575"/>
            <a:ext cx="51720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Bash 静态检查、Windows 诊断测试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原生程序 IPv6 回环集成测试</a:t>
            </a:r>
          </a:p>
        </p:txBody>
      </p:sp>
      <p:sp>
        <p:nvSpPr>
          <p:cNvPr id="9" name="真实 Linux systemd 部署、公网签发&#10;以及客户端">
            <a:extLst xmlns:a="http://schemas.openxmlformats.org/drawingml/2006/main">
              <a:ext uri="{FF2B5EF4-FFF2-40B4-BE49-F238E27FC236}">
                <a16:creationId xmlns:a16="http://schemas.microsoft.com/office/drawing/2014/main" id="{9A84CF69-EA34-421A-830E-2472F8C9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95700"/>
            <a:ext cx="51720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rPr>
              <a:t>真实 Linux systemd 部署、公网签发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B5A0A"/>
                </a:solidFill>
                <a:latin typeface="Microsoft YaHei"/>
                <a:ea typeface="Microsoft YaHei"/>
                <a:cs typeface="Microsoft YaHei"/>
              </a:rPr>
              <a:t>以及客户端验收，仍需在目标环境完成。</a:t>
            </a:r>
          </a:p>
        </p:txBody>
      </p:sp>
      <p:sp>
        <p:nvSpPr>
          <p:cNvPr id="10" name="官方资料">
            <a:extLst xmlns:a="http://schemas.openxmlformats.org/drawingml/2006/main">
              <a:ext uri="{FF2B5EF4-FFF2-40B4-BE49-F238E27FC236}">
                <a16:creationId xmlns:a16="http://schemas.microsoft.com/office/drawing/2014/main" id="{FC2A9B76-748E-4222-BE8F-6DCB33F3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E40"/>
                </a:solidFill>
                <a:latin typeface="Microsoft YaHei"/>
                <a:ea typeface="Microsoft YaHei"/>
                <a:cs typeface="Microsoft YaHei"/>
              </a:rPr>
              <a:t>官方资料</a:t>
            </a:r>
          </a:p>
        </p:txBody>
      </p:sp>
      <p:sp>
        <p:nvSpPr>
          <p:cNvPr id="11" name="Hysteria 官方配置与 URI 规范&#10;Let’s En">
            <a:extLst xmlns:a="http://schemas.openxmlformats.org/drawingml/2006/main">
              <a:ext uri="{FF2B5EF4-FFF2-40B4-BE49-F238E27FC236}">
                <a16:creationId xmlns:a16="http://schemas.microsoft.com/office/drawing/2014/main" id="{42449500-69D7-4E52-BFE9-2B5B378B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Hysteria 官方配置与 URI 规范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Let’s Encrypt IP 证书、acme.sh 官方文档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B7C"/>
                </a:solidFill>
                <a:latin typeface="Microsoft YaHei"/>
                <a:ea typeface="Microsoft YaHei"/>
                <a:cs typeface="Microsoft YaHei"/>
              </a:rPr>
              <a:t>Cudy IPv6 设置说明</a:t>
            </a:r>
          </a:p>
        </p:txBody>
      </p:sp>
    </p:spTree>
    <p:extLst>
      <p:ext uri="{BB962C8B-B14F-4D97-AF65-F5344CB8AC3E}">
        <p14:creationId xmlns:p14="http://schemas.microsoft.com/office/powerpoint/2010/main" val="1797602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2026-10-11T13:35:24.7030000Z</dcterms:created>
  <dcterms:modified xsi:type="dcterms:W3CDTF">2026-10-11T13:35:24.7030000Z</dcterms:modified>
</coreProperties>
</file>